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5789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5.png"/><Relationship Id="rId5" Type="http://schemas.openxmlformats.org/officeDocument/2006/relationships/image" Target="../media/image7.png"/><Relationship Id="rId10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57200"/>
            <a:ext cx="2926080" cy="36576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NYXORA — National Hackathon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ZeroWaste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Surplus Food Redistribution Platform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29260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restaurants, NGOs, and volunteers in real-time to rescue surplus food before it goes to waste.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840480"/>
            <a:ext cx="2286000" cy="777240"/>
          </a:xfrm>
          <a:prstGeom prst="rect">
            <a:avLst/>
          </a:prstGeom>
          <a:solidFill>
            <a:srgbClr val="2E7D32">
              <a:alpha val="30000"/>
            </a:srgbClr>
          </a:solidFill>
          <a:ln w="6350">
            <a:solidFill>
              <a:srgbClr val="4A7C59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005072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80160" y="391363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280160" y="42245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 &amp; Hotels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291840" y="3840480"/>
            <a:ext cx="2286000" cy="777240"/>
          </a:xfrm>
          <a:prstGeom prst="rect">
            <a:avLst/>
          </a:prstGeom>
          <a:solidFill>
            <a:srgbClr val="2E7D32">
              <a:alpha val="30000"/>
            </a:srgbClr>
          </a:solidFill>
          <a:ln w="6350">
            <a:solidFill>
              <a:srgbClr val="4A7C59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4005072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931920" y="391363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931920" y="42245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Banks &amp; Trusts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5943600" y="3840480"/>
            <a:ext cx="2286000" cy="777240"/>
          </a:xfrm>
          <a:prstGeom prst="rect">
            <a:avLst/>
          </a:prstGeom>
          <a:solidFill>
            <a:srgbClr val="2E7D32">
              <a:alpha val="30000"/>
            </a:srgbClr>
          </a:solidFill>
          <a:ln w="6350">
            <a:solidFill>
              <a:srgbClr val="4A7C59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4005072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83680" y="391363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Volunteers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583680" y="42245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Last-mile Delivery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6400800" y="4572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ERROR 404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411480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&amp; Problem Statement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8404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2344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Error 404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Found — until now.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834640"/>
            <a:ext cx="384048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29718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TITLE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32004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ZeroWaste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31520" y="3611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Surplus Food Redistribution Platform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097280"/>
            <a:ext cx="411480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097280"/>
            <a:ext cx="4114800" cy="54864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325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37760" y="164592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day, </a:t>
            </a:r>
            <a:r>
              <a:rPr lang="en-US" sz="13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of food produced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India is wasted — mostly by restaurants, hotels, and catering businesses — while </a:t>
            </a:r>
            <a:r>
              <a:rPr lang="en-US" sz="13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189 million people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go to sleep hungry.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283464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efficient, accountable, real-time system to bridge this gap. Existing solutions rely on phone calls, manual coordination, and have no delivery accountability.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37490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b="1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result: edible food rots in kitchens while people starve within kilometers.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9" name="Text 1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MREM   •  NYXORA 2026  •  Team Error 404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411480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Solution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ZeroWaste is a multi-role real-time platform that digitises the full food donation lifecycle — from posting surplus, to claiming, to OTP-verified delivery.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256032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45920"/>
            <a:ext cx="2560320" cy="54864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920240"/>
            <a:ext cx="502920" cy="502920"/>
          </a:xfrm>
          <a:prstGeom prst="ellipse">
            <a:avLst/>
          </a:prstGeom>
          <a:solidFill>
            <a:srgbClr val="E8F5E9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993392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2560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Donor Portal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31520" y="292608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 &amp; hotels post surplus food with geo-location, expiry time, images, and food details. Auto-fill address from profile or live GPS.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91840" y="1645920"/>
            <a:ext cx="256032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91840" y="1645920"/>
            <a:ext cx="2560320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3" name="Shape 10"/>
          <p:cNvSpPr/>
          <p:nvPr/>
        </p:nvSpPr>
        <p:spPr>
          <a:xfrm>
            <a:off x="3566160" y="1920240"/>
            <a:ext cx="502920" cy="502920"/>
          </a:xfrm>
          <a:prstGeom prst="ellipse">
            <a:avLst/>
          </a:prstGeom>
          <a:solidFill>
            <a:srgbClr val="E8F5E9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9312" y="1993392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66160" y="2560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NGO Dashboard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566160" y="292608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NGOs browse and instantly claim listings — full or partial. Real-time tracker shows volunteer status, ETA, and auto-generates delivery OTP.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126480" y="1645920"/>
            <a:ext cx="256032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126480" y="1645920"/>
            <a:ext cx="2560320" cy="54864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19" name="Shape 15"/>
          <p:cNvSpPr/>
          <p:nvPr/>
        </p:nvSpPr>
        <p:spPr>
          <a:xfrm>
            <a:off x="6400800" y="1920240"/>
            <a:ext cx="502920" cy="502920"/>
          </a:xfrm>
          <a:prstGeom prst="ellipse">
            <a:avLst/>
          </a:prstGeom>
          <a:solidFill>
            <a:srgbClr val="E8F5E9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3952" y="1993392"/>
            <a:ext cx="347472" cy="34747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400800" y="2560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Volunteer App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400800" y="292608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Volunteers see tasks sorted by distance. Accept, view route map, verify pickup via donor OTP, confirm delivery via NGO OTP — earn automatically.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457200" y="4343400"/>
            <a:ext cx="8229600" cy="50292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4" name="Shape 19"/>
          <p:cNvSpPr/>
          <p:nvPr/>
        </p:nvSpPr>
        <p:spPr>
          <a:xfrm>
            <a:off x="457200" y="4343400"/>
            <a:ext cx="54864" cy="5029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5" name="Text 20"/>
          <p:cNvSpPr/>
          <p:nvPr/>
        </p:nvSpPr>
        <p:spPr>
          <a:xfrm>
            <a:off x="731520" y="43434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Innovation: 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OTP verification at pickup and delivery creates a tamper-proof chain of custody. Wallet payouts are automatic — no manual processing.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411480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Competitive Edge &amp; USP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75488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24712"/>
            <a:ext cx="16459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Zomato / Swiggy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377440" y="1124712"/>
            <a:ext cx="26517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Purely commercial — zero food donation mechanism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57200" y="1755648"/>
            <a:ext cx="475488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828800"/>
            <a:ext cx="16459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Drives (Robin Hood Army)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377440" y="1828800"/>
            <a:ext cx="26517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Phone/WhatsApp based. No tracking, no accountability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459736"/>
            <a:ext cx="475488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532888"/>
            <a:ext cx="16459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Banks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377440" y="2532888"/>
            <a:ext cx="26517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drop-off model. No last-mile delivery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3163824"/>
            <a:ext cx="4754880" cy="685800"/>
          </a:xfrm>
          <a:prstGeom prst="rect">
            <a:avLst/>
          </a:prstGeom>
          <a:solidFill>
            <a:srgbClr val="E8F5E9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163824"/>
            <a:ext cx="54864" cy="68580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236976"/>
            <a:ext cx="16459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ZeroWaste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377440" y="3236976"/>
            <a:ext cx="26517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digital. Auto-assigns volunteer. OTP-verified. Real-time for all 3 parties.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669280" y="1051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USP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669280" y="1463040"/>
            <a:ext cx="301752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1554480"/>
            <a:ext cx="320040" cy="32004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6263640" y="14630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OTP Verification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669280" y="2103120"/>
            <a:ext cx="301752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2194560"/>
            <a:ext cx="320040" cy="32004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6263640" y="21031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Live Tracker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5669280" y="2743200"/>
            <a:ext cx="301752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6440" y="2834640"/>
            <a:ext cx="320040" cy="32004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263640" y="27432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Wallet Payout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5669280" y="3383280"/>
            <a:ext cx="301752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6440" y="3474720"/>
            <a:ext cx="320040" cy="32004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263640" y="33832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Demand Forecast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5669280" y="4023360"/>
            <a:ext cx="301752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06440" y="4114800"/>
            <a:ext cx="320040" cy="32004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6263640" y="40233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Map + ETA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4" name="Text 27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posting  </a:t>
            </a:r>
            <a:r>
              <a:rPr lang="en-US" sz="1000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proximity match  </a:t>
            </a:r>
            <a:r>
              <a:rPr lang="en-US" sz="1000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chain prevents fraud  </a:t>
            </a:r>
            <a:r>
              <a:rPr lang="en-US" sz="1000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incentive keeps supply healthy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411480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5603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143000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11155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Geo-Location Posting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960120" y="144475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GPS or registered address. Distance shown to volunteers.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291840" y="1005840"/>
            <a:ext cx="25603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143000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794760" y="11155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Volunteer Assign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3794760" y="144475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 available volunteer auto-assigned on claim.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6126480" y="1005840"/>
            <a:ext cx="25603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1143000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629400" y="11155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OTP Verification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6629400" y="144475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 OTP → donor. Delivery OTP → NGO. Tamper-proof.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457200" y="2240280"/>
            <a:ext cx="25603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2377440"/>
            <a:ext cx="292608" cy="29260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60120" y="23500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Tracker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960120" y="267919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live updates: assigned → picked up → delivered.</a:t>
            </a:r>
            <a:endParaRPr lang="en-US" sz="900" dirty="0"/>
          </a:p>
        </p:txBody>
      </p:sp>
      <p:sp>
        <p:nvSpPr>
          <p:cNvPr id="20" name="Shape 14"/>
          <p:cNvSpPr/>
          <p:nvPr/>
        </p:nvSpPr>
        <p:spPr>
          <a:xfrm>
            <a:off x="3291840" y="2240280"/>
            <a:ext cx="25603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29000" y="2377440"/>
            <a:ext cx="292608" cy="29260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794760" y="23500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System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3794760" y="267919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 wallet auto-debits, volunteer credited on delivery.</a:t>
            </a:r>
            <a:endParaRPr lang="en-US" sz="900" dirty="0"/>
          </a:p>
        </p:txBody>
      </p:sp>
      <p:sp>
        <p:nvSpPr>
          <p:cNvPr id="24" name="Shape 17"/>
          <p:cNvSpPr/>
          <p:nvPr/>
        </p:nvSpPr>
        <p:spPr>
          <a:xfrm>
            <a:off x="6126480" y="2240280"/>
            <a:ext cx="25603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3640" y="2377440"/>
            <a:ext cx="292608" cy="29260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629400" y="23500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Map + ETA</a:t>
            </a:r>
            <a:endParaRPr lang="en-US" sz="1100" dirty="0"/>
          </a:p>
        </p:txBody>
      </p:sp>
      <p:sp>
        <p:nvSpPr>
          <p:cNvPr id="27" name="Text 19"/>
          <p:cNvSpPr/>
          <p:nvPr/>
        </p:nvSpPr>
        <p:spPr>
          <a:xfrm>
            <a:off x="6629400" y="267919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OpenStreetMap with pickup/drop pins. Haversine ETA.</a:t>
            </a:r>
            <a:endParaRPr lang="en-US" sz="900" dirty="0"/>
          </a:p>
        </p:txBody>
      </p:sp>
      <p:sp>
        <p:nvSpPr>
          <p:cNvPr id="28" name="Shape 20"/>
          <p:cNvSpPr/>
          <p:nvPr/>
        </p:nvSpPr>
        <p:spPr>
          <a:xfrm>
            <a:off x="457200" y="3474720"/>
            <a:ext cx="25603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4360" y="3611880"/>
            <a:ext cx="292608" cy="292608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960120" y="35844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Demand Forecast</a:t>
            </a:r>
            <a:endParaRPr lang="en-US" sz="1100" dirty="0"/>
          </a:p>
        </p:txBody>
      </p:sp>
      <p:sp>
        <p:nvSpPr>
          <p:cNvPr id="31" name="Text 22"/>
          <p:cNvSpPr/>
          <p:nvPr/>
        </p:nvSpPr>
        <p:spPr>
          <a:xfrm>
            <a:off x="960120" y="391363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LLaMA 3.3 predicts surplus days and peak times.</a:t>
            </a:r>
            <a:endParaRPr lang="en-US" sz="900" dirty="0"/>
          </a:p>
        </p:txBody>
      </p:sp>
      <p:sp>
        <p:nvSpPr>
          <p:cNvPr id="32" name="Shape 23"/>
          <p:cNvSpPr/>
          <p:nvPr/>
        </p:nvSpPr>
        <p:spPr>
          <a:xfrm>
            <a:off x="3291840" y="3474720"/>
            <a:ext cx="25603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29000" y="3611880"/>
            <a:ext cx="292608" cy="292608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3794760" y="35844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Notifications</a:t>
            </a:r>
            <a:endParaRPr lang="en-US" sz="1100" dirty="0"/>
          </a:p>
        </p:txBody>
      </p:sp>
      <p:sp>
        <p:nvSpPr>
          <p:cNvPr id="35" name="Text 25"/>
          <p:cNvSpPr/>
          <p:nvPr/>
        </p:nvSpPr>
        <p:spPr>
          <a:xfrm>
            <a:off x="3794760" y="391363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 events + in-app bell. OTP popup auto-appears.</a:t>
            </a:r>
            <a:endParaRPr lang="en-US" sz="900" dirty="0"/>
          </a:p>
        </p:txBody>
      </p:sp>
      <p:sp>
        <p:nvSpPr>
          <p:cNvPr id="36" name="Shape 26"/>
          <p:cNvSpPr/>
          <p:nvPr/>
        </p:nvSpPr>
        <p:spPr>
          <a:xfrm>
            <a:off x="6126480" y="3474720"/>
            <a:ext cx="25603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37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63640" y="3611880"/>
            <a:ext cx="292608" cy="292608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6629400" y="35844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Dashboards</a:t>
            </a:r>
            <a:endParaRPr lang="en-US" sz="1100" dirty="0"/>
          </a:p>
        </p:txBody>
      </p:sp>
      <p:sp>
        <p:nvSpPr>
          <p:cNvPr id="39" name="Text 28"/>
          <p:cNvSpPr/>
          <p:nvPr/>
        </p:nvSpPr>
        <p:spPr>
          <a:xfrm>
            <a:off x="6629400" y="391363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UX for Donor, NGO, Volunteer, and Admin.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411480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Process Flow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71500" y="1188720"/>
            <a:ext cx="502920" cy="5029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5" name="Text 3"/>
          <p:cNvSpPr/>
          <p:nvPr/>
        </p:nvSpPr>
        <p:spPr>
          <a:xfrm>
            <a:off x="571500" y="1188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0040" y="17830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</a:t>
            </a:r>
            <a:endParaRPr lang="en-US" sz="9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Food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21945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location, expiry</a:t>
            </a:r>
            <a:endParaRPr lang="en-US" sz="7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5024" y="1298448"/>
            <a:ext cx="146304" cy="14630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741932" y="1188720"/>
            <a:ext cx="502920" cy="5029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0" name="Text 7"/>
          <p:cNvSpPr/>
          <p:nvPr/>
        </p:nvSpPr>
        <p:spPr>
          <a:xfrm>
            <a:off x="1741932" y="1188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490472" y="17830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</a:t>
            </a:r>
            <a:endParaRPr lang="en-US" sz="9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490472" y="21945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browse</a:t>
            </a:r>
            <a:endParaRPr lang="en-US" sz="75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5456" y="1298448"/>
            <a:ext cx="146304" cy="14630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2912364" y="1188720"/>
            <a:ext cx="502920" cy="5029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5" name="Text 11"/>
          <p:cNvSpPr/>
          <p:nvPr/>
        </p:nvSpPr>
        <p:spPr>
          <a:xfrm>
            <a:off x="2912364" y="1188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2660904" y="17830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</a:t>
            </a:r>
            <a:endParaRPr lang="en-US" sz="9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2660904" y="21945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 available</a:t>
            </a:r>
            <a:endParaRPr lang="en-US" sz="75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5888" y="1298448"/>
            <a:ext cx="146304" cy="146304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4082796" y="1188720"/>
            <a:ext cx="502920" cy="5029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0" name="Text 15"/>
          <p:cNvSpPr/>
          <p:nvPr/>
        </p:nvSpPr>
        <p:spPr>
          <a:xfrm>
            <a:off x="4082796" y="1188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3831336" y="17830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 OTP</a:t>
            </a:r>
            <a:endParaRPr lang="en-US" sz="9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3831336" y="21945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shows code</a:t>
            </a:r>
            <a:endParaRPr lang="en-US" sz="75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298448"/>
            <a:ext cx="146304" cy="146304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5253228" y="1188720"/>
            <a:ext cx="502920" cy="5029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5" name="Text 19"/>
          <p:cNvSpPr/>
          <p:nvPr/>
        </p:nvSpPr>
        <p:spPr>
          <a:xfrm>
            <a:off x="5253228" y="1188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5001768" y="17830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Route</a:t>
            </a:r>
            <a:endParaRPr lang="en-US" sz="9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NGO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5001768" y="21945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tracking</a:t>
            </a:r>
            <a:endParaRPr lang="en-US" sz="750" dirty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6752" y="1298448"/>
            <a:ext cx="146304" cy="146304"/>
          </a:xfrm>
          <a:prstGeom prst="rect">
            <a:avLst/>
          </a:prstGeom>
        </p:spPr>
      </p:pic>
      <p:sp>
        <p:nvSpPr>
          <p:cNvPr id="29" name="Shape 22"/>
          <p:cNvSpPr/>
          <p:nvPr/>
        </p:nvSpPr>
        <p:spPr>
          <a:xfrm>
            <a:off x="6423660" y="1188720"/>
            <a:ext cx="502920" cy="5029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0" name="Text 23"/>
          <p:cNvSpPr/>
          <p:nvPr/>
        </p:nvSpPr>
        <p:spPr>
          <a:xfrm>
            <a:off x="6423660" y="1188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Text 24"/>
          <p:cNvSpPr/>
          <p:nvPr/>
        </p:nvSpPr>
        <p:spPr>
          <a:xfrm>
            <a:off x="6172200" y="17830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OTP</a:t>
            </a:r>
            <a:endParaRPr lang="en-US" sz="9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6172200" y="21945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 shows code</a:t>
            </a:r>
            <a:endParaRPr lang="en-US" sz="750" dirty="0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7184" y="1298448"/>
            <a:ext cx="146304" cy="146304"/>
          </a:xfrm>
          <a:prstGeom prst="rect">
            <a:avLst/>
          </a:prstGeom>
        </p:spPr>
      </p:pic>
      <p:sp>
        <p:nvSpPr>
          <p:cNvPr id="34" name="Shape 26"/>
          <p:cNvSpPr/>
          <p:nvPr/>
        </p:nvSpPr>
        <p:spPr>
          <a:xfrm>
            <a:off x="7594092" y="1188720"/>
            <a:ext cx="502920" cy="502920"/>
          </a:xfrm>
          <a:prstGeom prst="ellipse">
            <a:avLst/>
          </a:prstGeom>
          <a:solidFill>
            <a:srgbClr val="FF6F00"/>
          </a:solidFill>
          <a:ln/>
        </p:spPr>
      </p:sp>
      <p:sp>
        <p:nvSpPr>
          <p:cNvPr id="35" name="Text 27"/>
          <p:cNvSpPr/>
          <p:nvPr/>
        </p:nvSpPr>
        <p:spPr>
          <a:xfrm>
            <a:off x="7594092" y="1188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6" name="Text 28"/>
          <p:cNvSpPr/>
          <p:nvPr/>
        </p:nvSpPr>
        <p:spPr>
          <a:xfrm>
            <a:off x="7342632" y="17830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Wallet</a:t>
            </a:r>
            <a:endParaRPr lang="en-US" sz="9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7342632" y="21945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payout</a:t>
            </a:r>
            <a:endParaRPr lang="en-US" sz="750" dirty="0"/>
          </a:p>
        </p:txBody>
      </p:sp>
      <p:sp>
        <p:nvSpPr>
          <p:cNvPr id="38" name="Shape 30"/>
          <p:cNvSpPr/>
          <p:nvPr/>
        </p:nvSpPr>
        <p:spPr>
          <a:xfrm>
            <a:off x="594360" y="2834640"/>
            <a:ext cx="2560320" cy="1828800"/>
          </a:xfrm>
          <a:prstGeom prst="rect">
            <a:avLst/>
          </a:prstGeom>
          <a:solidFill>
            <a:srgbClr val="1B2838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>
            <a:off x="594360" y="2834640"/>
            <a:ext cx="2560320" cy="3200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40" name="Text 32"/>
          <p:cNvSpPr/>
          <p:nvPr/>
        </p:nvSpPr>
        <p:spPr>
          <a:xfrm>
            <a:off x="594360" y="28346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</a:t>
            </a:r>
            <a:endParaRPr lang="en-US" sz="1000" dirty="0"/>
          </a:p>
        </p:txBody>
      </p:sp>
      <p:sp>
        <p:nvSpPr>
          <p:cNvPr id="41" name="Text 33"/>
          <p:cNvSpPr/>
          <p:nvPr/>
        </p:nvSpPr>
        <p:spPr>
          <a:xfrm>
            <a:off x="822960" y="32918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&amp; set location</a:t>
            </a:r>
            <a:endParaRPr lang="en-US" sz="950" dirty="0"/>
          </a:p>
        </p:txBody>
      </p:sp>
      <p:sp>
        <p:nvSpPr>
          <p:cNvPr id="42" name="Shape 34"/>
          <p:cNvSpPr/>
          <p:nvPr/>
        </p:nvSpPr>
        <p:spPr>
          <a:xfrm>
            <a:off x="777240" y="3584448"/>
            <a:ext cx="2194560" cy="0"/>
          </a:xfrm>
          <a:prstGeom prst="line">
            <a:avLst/>
          </a:prstGeom>
          <a:noFill/>
          <a:ln w="6350">
            <a:solidFill>
              <a:srgbClr val="2D3748"/>
            </a:solidFill>
            <a:prstDash val="solid"/>
          </a:ln>
        </p:spPr>
      </p:sp>
      <p:sp>
        <p:nvSpPr>
          <p:cNvPr id="43" name="Text 35"/>
          <p:cNvSpPr/>
          <p:nvPr/>
        </p:nvSpPr>
        <p:spPr>
          <a:xfrm>
            <a:off x="822960" y="3611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food listing</a:t>
            </a:r>
            <a:endParaRPr lang="en-US" sz="950" dirty="0"/>
          </a:p>
        </p:txBody>
      </p:sp>
      <p:sp>
        <p:nvSpPr>
          <p:cNvPr id="44" name="Shape 36"/>
          <p:cNvSpPr/>
          <p:nvPr/>
        </p:nvSpPr>
        <p:spPr>
          <a:xfrm>
            <a:off x="777240" y="3904488"/>
            <a:ext cx="2194560" cy="0"/>
          </a:xfrm>
          <a:prstGeom prst="line">
            <a:avLst/>
          </a:prstGeom>
          <a:noFill/>
          <a:ln w="6350">
            <a:solidFill>
              <a:srgbClr val="2D3748"/>
            </a:solidFill>
            <a:prstDash val="solid"/>
          </a:ln>
        </p:spPr>
      </p:sp>
      <p:sp>
        <p:nvSpPr>
          <p:cNvPr id="45" name="Text 37"/>
          <p:cNvSpPr/>
          <p:nvPr/>
        </p:nvSpPr>
        <p:spPr>
          <a:xfrm>
            <a:off x="822960" y="39319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Pickup OTP</a:t>
            </a:r>
            <a:endParaRPr lang="en-US" sz="950" dirty="0"/>
          </a:p>
        </p:txBody>
      </p:sp>
      <p:sp>
        <p:nvSpPr>
          <p:cNvPr id="46" name="Shape 38"/>
          <p:cNvSpPr/>
          <p:nvPr/>
        </p:nvSpPr>
        <p:spPr>
          <a:xfrm>
            <a:off x="777240" y="4224528"/>
            <a:ext cx="2194560" cy="0"/>
          </a:xfrm>
          <a:prstGeom prst="line">
            <a:avLst/>
          </a:prstGeom>
          <a:noFill/>
          <a:ln w="6350">
            <a:solidFill>
              <a:srgbClr val="2D3748"/>
            </a:solidFill>
            <a:prstDash val="solid"/>
          </a:ln>
        </p:spPr>
      </p:sp>
      <p:sp>
        <p:nvSpPr>
          <p:cNvPr id="47" name="Text 39"/>
          <p:cNvSpPr/>
          <p:nvPr/>
        </p:nvSpPr>
        <p:spPr>
          <a:xfrm>
            <a:off x="822960" y="4251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delivery history</a:t>
            </a:r>
            <a:endParaRPr lang="en-US" sz="950" dirty="0"/>
          </a:p>
        </p:txBody>
      </p:sp>
      <p:sp>
        <p:nvSpPr>
          <p:cNvPr id="48" name="Shape 40"/>
          <p:cNvSpPr/>
          <p:nvPr/>
        </p:nvSpPr>
        <p:spPr>
          <a:xfrm>
            <a:off x="3429000" y="2834640"/>
            <a:ext cx="2560320" cy="1828800"/>
          </a:xfrm>
          <a:prstGeom prst="rect">
            <a:avLst/>
          </a:prstGeom>
          <a:solidFill>
            <a:srgbClr val="1B2838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49" name="Shape 41"/>
          <p:cNvSpPr/>
          <p:nvPr/>
        </p:nvSpPr>
        <p:spPr>
          <a:xfrm>
            <a:off x="3429000" y="2834640"/>
            <a:ext cx="2560320" cy="320040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50" name="Text 42"/>
          <p:cNvSpPr/>
          <p:nvPr/>
        </p:nvSpPr>
        <p:spPr>
          <a:xfrm>
            <a:off x="3429000" y="28346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</a:t>
            </a:r>
            <a:endParaRPr lang="en-US" sz="1000" dirty="0"/>
          </a:p>
        </p:txBody>
      </p:sp>
      <p:sp>
        <p:nvSpPr>
          <p:cNvPr id="51" name="Text 43"/>
          <p:cNvSpPr/>
          <p:nvPr/>
        </p:nvSpPr>
        <p:spPr>
          <a:xfrm>
            <a:off x="3657600" y="32918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&amp; claim listings</a:t>
            </a:r>
            <a:endParaRPr lang="en-US" sz="950" dirty="0"/>
          </a:p>
        </p:txBody>
      </p:sp>
      <p:sp>
        <p:nvSpPr>
          <p:cNvPr id="52" name="Shape 44"/>
          <p:cNvSpPr/>
          <p:nvPr/>
        </p:nvSpPr>
        <p:spPr>
          <a:xfrm>
            <a:off x="3611880" y="3584448"/>
            <a:ext cx="2194560" cy="0"/>
          </a:xfrm>
          <a:prstGeom prst="line">
            <a:avLst/>
          </a:prstGeom>
          <a:noFill/>
          <a:ln w="6350">
            <a:solidFill>
              <a:srgbClr val="2D3748"/>
            </a:solidFill>
            <a:prstDash val="solid"/>
          </a:ln>
        </p:spPr>
      </p:sp>
      <p:sp>
        <p:nvSpPr>
          <p:cNvPr id="53" name="Text 45"/>
          <p:cNvSpPr/>
          <p:nvPr/>
        </p:nvSpPr>
        <p:spPr>
          <a:xfrm>
            <a:off x="3657600" y="3611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volunteer live</a:t>
            </a:r>
            <a:endParaRPr lang="en-US" sz="950" dirty="0"/>
          </a:p>
        </p:txBody>
      </p:sp>
      <p:sp>
        <p:nvSpPr>
          <p:cNvPr id="54" name="Shape 46"/>
          <p:cNvSpPr/>
          <p:nvPr/>
        </p:nvSpPr>
        <p:spPr>
          <a:xfrm>
            <a:off x="3611880" y="3904488"/>
            <a:ext cx="2194560" cy="0"/>
          </a:xfrm>
          <a:prstGeom prst="line">
            <a:avLst/>
          </a:prstGeom>
          <a:noFill/>
          <a:ln w="6350">
            <a:solidFill>
              <a:srgbClr val="2D3748"/>
            </a:solidFill>
            <a:prstDash val="solid"/>
          </a:ln>
        </p:spPr>
      </p:sp>
      <p:sp>
        <p:nvSpPr>
          <p:cNvPr id="55" name="Text 47"/>
          <p:cNvSpPr/>
          <p:nvPr/>
        </p:nvSpPr>
        <p:spPr>
          <a:xfrm>
            <a:off x="3657600" y="39319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Delivery OTP</a:t>
            </a:r>
            <a:endParaRPr lang="en-US" sz="950" dirty="0"/>
          </a:p>
        </p:txBody>
      </p:sp>
      <p:sp>
        <p:nvSpPr>
          <p:cNvPr id="56" name="Shape 48"/>
          <p:cNvSpPr/>
          <p:nvPr/>
        </p:nvSpPr>
        <p:spPr>
          <a:xfrm>
            <a:off x="3611880" y="4224528"/>
            <a:ext cx="2194560" cy="0"/>
          </a:xfrm>
          <a:prstGeom prst="line">
            <a:avLst/>
          </a:prstGeom>
          <a:noFill/>
          <a:ln w="6350">
            <a:solidFill>
              <a:srgbClr val="2D3748"/>
            </a:solidFill>
            <a:prstDash val="solid"/>
          </a:ln>
        </p:spPr>
      </p:sp>
      <p:sp>
        <p:nvSpPr>
          <p:cNvPr id="57" name="Text 49"/>
          <p:cNvSpPr/>
          <p:nvPr/>
        </p:nvSpPr>
        <p:spPr>
          <a:xfrm>
            <a:off x="3657600" y="4251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wallet</a:t>
            </a:r>
            <a:endParaRPr lang="en-US" sz="950" dirty="0"/>
          </a:p>
        </p:txBody>
      </p:sp>
      <p:sp>
        <p:nvSpPr>
          <p:cNvPr id="58" name="Shape 50"/>
          <p:cNvSpPr/>
          <p:nvPr/>
        </p:nvSpPr>
        <p:spPr>
          <a:xfrm>
            <a:off x="6263640" y="2834640"/>
            <a:ext cx="2560320" cy="1828800"/>
          </a:xfrm>
          <a:prstGeom prst="rect">
            <a:avLst/>
          </a:prstGeom>
          <a:solidFill>
            <a:srgbClr val="1B2838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59" name="Shape 51"/>
          <p:cNvSpPr/>
          <p:nvPr/>
        </p:nvSpPr>
        <p:spPr>
          <a:xfrm>
            <a:off x="6263640" y="2834640"/>
            <a:ext cx="2560320" cy="3200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0" name="Text 52"/>
          <p:cNvSpPr/>
          <p:nvPr/>
        </p:nvSpPr>
        <p:spPr>
          <a:xfrm>
            <a:off x="6263640" y="28346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</a:t>
            </a:r>
            <a:endParaRPr lang="en-US" sz="1000" dirty="0"/>
          </a:p>
        </p:txBody>
      </p:sp>
      <p:sp>
        <p:nvSpPr>
          <p:cNvPr id="61" name="Text 53"/>
          <p:cNvSpPr/>
          <p:nvPr/>
        </p:nvSpPr>
        <p:spPr>
          <a:xfrm>
            <a:off x="6492240" y="32918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tasks by distance</a:t>
            </a:r>
            <a:endParaRPr lang="en-US" sz="950" dirty="0"/>
          </a:p>
        </p:txBody>
      </p:sp>
      <p:sp>
        <p:nvSpPr>
          <p:cNvPr id="62" name="Shape 54"/>
          <p:cNvSpPr/>
          <p:nvPr/>
        </p:nvSpPr>
        <p:spPr>
          <a:xfrm>
            <a:off x="6446520" y="3584448"/>
            <a:ext cx="2194560" cy="0"/>
          </a:xfrm>
          <a:prstGeom prst="line">
            <a:avLst/>
          </a:prstGeom>
          <a:noFill/>
          <a:ln w="6350">
            <a:solidFill>
              <a:srgbClr val="2D3748"/>
            </a:solidFill>
            <a:prstDash val="solid"/>
          </a:ln>
        </p:spPr>
      </p:sp>
      <p:sp>
        <p:nvSpPr>
          <p:cNvPr id="63" name="Text 55"/>
          <p:cNvSpPr/>
          <p:nvPr/>
        </p:nvSpPr>
        <p:spPr>
          <a:xfrm>
            <a:off x="6492240" y="3611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&amp; view route</a:t>
            </a:r>
            <a:endParaRPr lang="en-US" sz="950" dirty="0"/>
          </a:p>
        </p:txBody>
      </p:sp>
      <p:sp>
        <p:nvSpPr>
          <p:cNvPr id="64" name="Shape 56"/>
          <p:cNvSpPr/>
          <p:nvPr/>
        </p:nvSpPr>
        <p:spPr>
          <a:xfrm>
            <a:off x="6446520" y="3904488"/>
            <a:ext cx="2194560" cy="0"/>
          </a:xfrm>
          <a:prstGeom prst="line">
            <a:avLst/>
          </a:prstGeom>
          <a:noFill/>
          <a:ln w="6350">
            <a:solidFill>
              <a:srgbClr val="2D3748"/>
            </a:solidFill>
            <a:prstDash val="solid"/>
          </a:ln>
        </p:spPr>
      </p:sp>
      <p:sp>
        <p:nvSpPr>
          <p:cNvPr id="65" name="Text 57"/>
          <p:cNvSpPr/>
          <p:nvPr/>
        </p:nvSpPr>
        <p:spPr>
          <a:xfrm>
            <a:off x="6492240" y="39319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pickup &amp; delivery OTPs</a:t>
            </a:r>
            <a:endParaRPr lang="en-US" sz="950" dirty="0"/>
          </a:p>
        </p:txBody>
      </p:sp>
      <p:sp>
        <p:nvSpPr>
          <p:cNvPr id="66" name="Shape 58"/>
          <p:cNvSpPr/>
          <p:nvPr/>
        </p:nvSpPr>
        <p:spPr>
          <a:xfrm>
            <a:off x="6446520" y="4224528"/>
            <a:ext cx="2194560" cy="0"/>
          </a:xfrm>
          <a:prstGeom prst="line">
            <a:avLst/>
          </a:prstGeom>
          <a:noFill/>
          <a:ln w="6350">
            <a:solidFill>
              <a:srgbClr val="2D3748"/>
            </a:solidFill>
            <a:prstDash val="solid"/>
          </a:ln>
        </p:spPr>
      </p:sp>
      <p:sp>
        <p:nvSpPr>
          <p:cNvPr id="67" name="Text 59"/>
          <p:cNvSpPr/>
          <p:nvPr/>
        </p:nvSpPr>
        <p:spPr>
          <a:xfrm>
            <a:off x="6492240" y="4251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payout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411480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Screen Flows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155448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1554480" cy="32004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0058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— Post Food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417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Type: Cooked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11480" y="1783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Items: Biryani 10kg, Dal 5L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11480" y="2148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Expiry: 3 hours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11480" y="2514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Pickup: Hotel Saraswathi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28803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Submit Listing ]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039112" y="1005840"/>
            <a:ext cx="155448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039112" y="1005840"/>
            <a:ext cx="1554480" cy="32004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4" name="Text 12"/>
          <p:cNvSpPr/>
          <p:nvPr/>
        </p:nvSpPr>
        <p:spPr>
          <a:xfrm>
            <a:off x="2039112" y="10058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 — Live Tracker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130552" y="1417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LIVE  ETA ~8 min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130552" y="1783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Claimed · 12:05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2130552" y="2148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🏍 Volunteer assigned · 12:06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2130552" y="2514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Picked up · 12:07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130552" y="28803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OTP: 847291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758184" y="1005840"/>
            <a:ext cx="155448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758184" y="1005840"/>
            <a:ext cx="1554480" cy="320040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22" name="Text 20"/>
          <p:cNvSpPr/>
          <p:nvPr/>
        </p:nvSpPr>
        <p:spPr>
          <a:xfrm>
            <a:off x="3758184" y="10058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 — OTP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849624" y="1417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DELIVERY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849624" y="1783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NGO for their OTP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849624" y="2148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[ 8 ] [ 4 ] [ 7 ] [ 2 ] [ 9 ] [ 1 ]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849624" y="2514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849624" y="28803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Confirm Delivery ]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477256" y="1005840"/>
            <a:ext cx="155448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77256" y="1005840"/>
            <a:ext cx="1554480" cy="3200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0" name="Text 28"/>
          <p:cNvSpPr/>
          <p:nvPr/>
        </p:nvSpPr>
        <p:spPr>
          <a:xfrm>
            <a:off x="5477256" y="10058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Map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568696" y="1417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  OpenStreetMap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5568696" y="1783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 pin → Drop-off pin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568696" y="2148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Distance: 2.1 km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5568696" y="2514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ETA: ~4 min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5568696" y="28803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7196328" y="1005840"/>
            <a:ext cx="155448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196328" y="1005840"/>
            <a:ext cx="1554480" cy="320040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38" name="Text 36"/>
          <p:cNvSpPr/>
          <p:nvPr/>
        </p:nvSpPr>
        <p:spPr>
          <a:xfrm>
            <a:off x="7196328" y="10058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Earnings Wallet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287768" y="1417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₹340 Total Earned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7287768" y="1783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Deliveries Completed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7287768" y="2148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+₹154 Fried Rice · today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7287768" y="2514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+₹86 Idli batch · yesterday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7287768" y="28803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Withdraw ]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prototype running with 16 pre-seeded accounts — full end-to-end flow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411480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75488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" cy="594360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972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18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LAYER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40080" y="132588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(4 roles)  •  React Components  •  Socket.IO Client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475488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783080"/>
            <a:ext cx="54864" cy="5943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8288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LAYER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40080" y="205740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App Router  •  API Routes  •  NextAuth.js (JWT)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514600"/>
            <a:ext cx="475488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514600"/>
            <a:ext cx="54864" cy="594360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5603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 LAYER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40080" y="278892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Server  •  Room-based events  •  Per-user targeting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246120"/>
            <a:ext cx="475488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246120"/>
            <a:ext cx="54864" cy="594360"/>
          </a:xfrm>
          <a:prstGeom prst="rect">
            <a:avLst/>
          </a:prstGeom>
          <a:solidFill>
            <a:srgbClr val="805AD5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2918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05A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40080" y="35204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 •  Mongoose ODM  •  2dsphere Geo Index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977640"/>
            <a:ext cx="475488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977640"/>
            <a:ext cx="54864" cy="594360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0233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APIs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40080" y="425196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LLaMA 3.3  •  Cloudinary  •  Nominatim  •  OpenStreetMap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669280" y="10515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DATA MODELS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669280" y="1417320"/>
            <a:ext cx="320040" cy="320040"/>
          </a:xfrm>
          <a:prstGeom prst="ellipse">
            <a:avLst/>
          </a:prstGeom>
          <a:solidFill>
            <a:srgbClr val="3182CE"/>
          </a:solidFill>
          <a:ln/>
        </p:spPr>
      </p:sp>
      <p:sp>
        <p:nvSpPr>
          <p:cNvPr id="26" name="Text 24"/>
          <p:cNvSpPr/>
          <p:nvPr/>
        </p:nvSpPr>
        <p:spPr>
          <a:xfrm>
            <a:off x="5669280" y="14173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080760" y="14173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080760" y="158191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role, location (GeoJSON), wallet, phone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5669280" y="1874520"/>
            <a:ext cx="320040" cy="32004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0" name="Text 28"/>
          <p:cNvSpPr/>
          <p:nvPr/>
        </p:nvSpPr>
        <p:spPr>
          <a:xfrm>
            <a:off x="5669280" y="18745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080760" y="18745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FoodListing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080760" y="203911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status, foodItems[], donor, OTP refs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5669280" y="2331720"/>
            <a:ext cx="320040" cy="320040"/>
          </a:xfrm>
          <a:prstGeom prst="ellipse">
            <a:avLst/>
          </a:prstGeom>
          <a:solidFill>
            <a:srgbClr val="FF6F00"/>
          </a:solidFill>
          <a:ln/>
        </p:spPr>
      </p:sp>
      <p:sp>
        <p:nvSpPr>
          <p:cNvPr id="34" name="Text 32"/>
          <p:cNvSpPr/>
          <p:nvPr/>
        </p:nvSpPr>
        <p:spPr>
          <a:xfrm>
            <a:off x="5669280" y="2331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080760" y="23317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FoodDemand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080760" y="249631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meals, urgency, NGO pull-model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5669280" y="2788920"/>
            <a:ext cx="320040" cy="320040"/>
          </a:xfrm>
          <a:prstGeom prst="ellipse">
            <a:avLst/>
          </a:prstGeom>
          <a:solidFill>
            <a:srgbClr val="E53E3E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0" y="27889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080760" y="27889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080760" y="295351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6-digit, type, TTL, attempts lock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5669280" y="3246120"/>
            <a:ext cx="320040" cy="320040"/>
          </a:xfrm>
          <a:prstGeom prst="ellipse">
            <a:avLst/>
          </a:prstGeom>
          <a:solidFill>
            <a:srgbClr val="805AD5"/>
          </a:solidFill>
          <a:ln/>
        </p:spPr>
      </p:sp>
      <p:sp>
        <p:nvSpPr>
          <p:cNvPr id="42" name="Text 40"/>
          <p:cNvSpPr/>
          <p:nvPr/>
        </p:nvSpPr>
        <p:spPr>
          <a:xfrm>
            <a:off x="5669280" y="32461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080760" y="32461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WalletTxn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080760" y="341071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amount, type, balanceAfter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5669280" y="3703320"/>
            <a:ext cx="320040" cy="320040"/>
          </a:xfrm>
          <a:prstGeom prst="ellipse">
            <a:avLst/>
          </a:prstGeom>
          <a:solidFill>
            <a:srgbClr val="DD6B20"/>
          </a:solidFill>
          <a:ln/>
        </p:spPr>
      </p:sp>
      <p:sp>
        <p:nvSpPr>
          <p:cNvPr id="46" name="Text 44"/>
          <p:cNvSpPr/>
          <p:nvPr/>
        </p:nvSpPr>
        <p:spPr>
          <a:xfrm>
            <a:off x="5669280" y="37033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080760" y="37033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VolunteerTask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080760" y="386791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status, distance, payout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5669280" y="4160520"/>
            <a:ext cx="320040" cy="320040"/>
          </a:xfrm>
          <a:prstGeom prst="ellipse">
            <a:avLst/>
          </a:prstGeom>
          <a:solidFill>
            <a:srgbClr val="718096"/>
          </a:solidFill>
          <a:ln/>
        </p:spPr>
      </p:sp>
      <p:sp>
        <p:nvSpPr>
          <p:cNvPr id="50" name="Text 48"/>
          <p:cNvSpPr/>
          <p:nvPr/>
        </p:nvSpPr>
        <p:spPr>
          <a:xfrm>
            <a:off x="5669280" y="41605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080760" y="41605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080760" y="432511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userId, type, 30-day TTL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411480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Technologies Used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920240" cy="1508760"/>
          </a:xfrm>
          <a:prstGeom prst="rect">
            <a:avLst/>
          </a:prstGeom>
          <a:solidFill>
            <a:srgbClr val="1B2838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51560"/>
            <a:ext cx="1920240" cy="36576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16128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18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1737360" cy="2011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46304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(App Router)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48640" y="1709928"/>
            <a:ext cx="1737360" cy="2011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7099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TypeScript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48640" y="1956816"/>
            <a:ext cx="1737360" cy="2011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95681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TailwindCSS 4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48640" y="2203704"/>
            <a:ext cx="1737360" cy="2011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20370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Framer Motion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48640" y="2450592"/>
            <a:ext cx="1737360" cy="2011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4505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560320" y="1051560"/>
            <a:ext cx="1920240" cy="1508760"/>
          </a:xfrm>
          <a:prstGeom prst="rect">
            <a:avLst/>
          </a:prstGeom>
          <a:solidFill>
            <a:srgbClr val="1B2838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60320" y="1051560"/>
            <a:ext cx="1920240" cy="3657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9" name="Text 17"/>
          <p:cNvSpPr/>
          <p:nvPr/>
        </p:nvSpPr>
        <p:spPr>
          <a:xfrm>
            <a:off x="2697480" y="116128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/ API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651760" y="1463040"/>
            <a:ext cx="1737360" cy="2011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1" name="Text 19"/>
          <p:cNvSpPr/>
          <p:nvPr/>
        </p:nvSpPr>
        <p:spPr>
          <a:xfrm>
            <a:off x="2651760" y="146304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API Routes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651760" y="1709928"/>
            <a:ext cx="1737360" cy="2011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3" name="Text 21"/>
          <p:cNvSpPr/>
          <p:nvPr/>
        </p:nvSpPr>
        <p:spPr>
          <a:xfrm>
            <a:off x="2651760" y="17099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NextAuth.js (JWT)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651760" y="1956816"/>
            <a:ext cx="1737360" cy="2011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5" name="Text 23"/>
          <p:cNvSpPr/>
          <p:nvPr/>
        </p:nvSpPr>
        <p:spPr>
          <a:xfrm>
            <a:off x="2651760" y="195681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 Validation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651760" y="2203704"/>
            <a:ext cx="1737360" cy="2011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7" name="Text 25"/>
          <p:cNvSpPr/>
          <p:nvPr/>
        </p:nvSpPr>
        <p:spPr>
          <a:xfrm>
            <a:off x="2651760" y="220370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server.ts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663440" y="1051560"/>
            <a:ext cx="1920240" cy="1508760"/>
          </a:xfrm>
          <a:prstGeom prst="rect">
            <a:avLst/>
          </a:prstGeom>
          <a:solidFill>
            <a:srgbClr val="1B2838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63440" y="1051560"/>
            <a:ext cx="1920240" cy="36576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30" name="Text 28"/>
          <p:cNvSpPr/>
          <p:nvPr/>
        </p:nvSpPr>
        <p:spPr>
          <a:xfrm>
            <a:off x="4800600" y="116128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754880" y="1463040"/>
            <a:ext cx="1737360" cy="2011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2" name="Text 30"/>
          <p:cNvSpPr/>
          <p:nvPr/>
        </p:nvSpPr>
        <p:spPr>
          <a:xfrm>
            <a:off x="4754880" y="146304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4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754880" y="1709928"/>
            <a:ext cx="1737360" cy="2011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4" name="Text 32"/>
          <p:cNvSpPr/>
          <p:nvPr/>
        </p:nvSpPr>
        <p:spPr>
          <a:xfrm>
            <a:off x="4754880" y="17099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Room-based routing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754880" y="1956816"/>
            <a:ext cx="1737360" cy="2011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6" name="Text 34"/>
          <p:cNvSpPr/>
          <p:nvPr/>
        </p:nvSpPr>
        <p:spPr>
          <a:xfrm>
            <a:off x="4754880" y="195681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targeting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766560" y="1051560"/>
            <a:ext cx="1920240" cy="1508760"/>
          </a:xfrm>
          <a:prstGeom prst="rect">
            <a:avLst/>
          </a:prstGeom>
          <a:solidFill>
            <a:srgbClr val="1B2838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766560" y="1051560"/>
            <a:ext cx="1920240" cy="36576"/>
          </a:xfrm>
          <a:prstGeom prst="rect">
            <a:avLst/>
          </a:prstGeom>
          <a:solidFill>
            <a:srgbClr val="805AD5"/>
          </a:solidFill>
          <a:ln/>
        </p:spPr>
      </p:sp>
      <p:sp>
        <p:nvSpPr>
          <p:cNvPr id="39" name="Text 37"/>
          <p:cNvSpPr/>
          <p:nvPr/>
        </p:nvSpPr>
        <p:spPr>
          <a:xfrm>
            <a:off x="6903720" y="116128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05A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858000" y="1463040"/>
            <a:ext cx="1737360" cy="2011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1" name="Text 39"/>
          <p:cNvSpPr/>
          <p:nvPr/>
        </p:nvSpPr>
        <p:spPr>
          <a:xfrm>
            <a:off x="6858000" y="146304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858000" y="1709928"/>
            <a:ext cx="1737360" cy="2011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3" name="Text 41"/>
          <p:cNvSpPr/>
          <p:nvPr/>
        </p:nvSpPr>
        <p:spPr>
          <a:xfrm>
            <a:off x="6858000" y="17099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 9 ODM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858000" y="1956816"/>
            <a:ext cx="1737360" cy="2011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5" name="Text 43"/>
          <p:cNvSpPr/>
          <p:nvPr/>
        </p:nvSpPr>
        <p:spPr>
          <a:xfrm>
            <a:off x="6858000" y="195681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2dsphere Geo Index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858000" y="2203704"/>
            <a:ext cx="1737360" cy="2011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7" name="Text 45"/>
          <p:cNvSpPr/>
          <p:nvPr/>
        </p:nvSpPr>
        <p:spPr>
          <a:xfrm>
            <a:off x="6858000" y="220370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 Indexes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57200" y="2743200"/>
            <a:ext cx="1920240" cy="1508760"/>
          </a:xfrm>
          <a:prstGeom prst="rect">
            <a:avLst/>
          </a:prstGeom>
          <a:solidFill>
            <a:srgbClr val="1B2838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57200" y="2743200"/>
            <a:ext cx="1920240" cy="36576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50" name="Text 48"/>
          <p:cNvSpPr/>
          <p:nvPr/>
        </p:nvSpPr>
        <p:spPr>
          <a:xfrm>
            <a:off x="594360" y="285292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48640" y="3154680"/>
            <a:ext cx="1737360" cy="2011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52" name="Text 50"/>
          <p:cNvSpPr/>
          <p:nvPr/>
        </p:nvSpPr>
        <p:spPr>
          <a:xfrm>
            <a:off x="548640" y="31546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SDK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548640" y="3401568"/>
            <a:ext cx="1737360" cy="2011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54" name="Text 52"/>
          <p:cNvSpPr/>
          <p:nvPr/>
        </p:nvSpPr>
        <p:spPr>
          <a:xfrm>
            <a:off x="548640" y="340156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3.3 70B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548640" y="3648456"/>
            <a:ext cx="1737360" cy="2011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56" name="Text 54"/>
          <p:cNvSpPr/>
          <p:nvPr/>
        </p:nvSpPr>
        <p:spPr>
          <a:xfrm>
            <a:off x="548640" y="364845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forecasting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2560320" y="2743200"/>
            <a:ext cx="1920240" cy="1508760"/>
          </a:xfrm>
          <a:prstGeom prst="rect">
            <a:avLst/>
          </a:prstGeom>
          <a:solidFill>
            <a:srgbClr val="1B2838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560320" y="2743200"/>
            <a:ext cx="1920240" cy="36576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59" name="Text 57"/>
          <p:cNvSpPr/>
          <p:nvPr/>
        </p:nvSpPr>
        <p:spPr>
          <a:xfrm>
            <a:off x="2697480" y="285292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&amp; GEO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2651760" y="3154680"/>
            <a:ext cx="1737360" cy="2011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1" name="Text 59"/>
          <p:cNvSpPr/>
          <p:nvPr/>
        </p:nvSpPr>
        <p:spPr>
          <a:xfrm>
            <a:off x="2651760" y="31546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React-Leaflet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2651760" y="3401568"/>
            <a:ext cx="1737360" cy="2011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3" name="Text 61"/>
          <p:cNvSpPr/>
          <p:nvPr/>
        </p:nvSpPr>
        <p:spPr>
          <a:xfrm>
            <a:off x="2651760" y="340156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OpenStreetMap tiles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2651760" y="3648456"/>
            <a:ext cx="1737360" cy="2011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5" name="Text 63"/>
          <p:cNvSpPr/>
          <p:nvPr/>
        </p:nvSpPr>
        <p:spPr>
          <a:xfrm>
            <a:off x="2651760" y="364845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Nominatim geocoding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2651760" y="3895344"/>
            <a:ext cx="1737360" cy="2011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7" name="Text 65"/>
          <p:cNvSpPr/>
          <p:nvPr/>
        </p:nvSpPr>
        <p:spPr>
          <a:xfrm>
            <a:off x="2651760" y="389534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Haversine distance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4663440" y="2743200"/>
            <a:ext cx="1920240" cy="1508760"/>
          </a:xfrm>
          <a:prstGeom prst="rect">
            <a:avLst/>
          </a:prstGeom>
          <a:solidFill>
            <a:srgbClr val="1B2838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663440" y="2743200"/>
            <a:ext cx="1920240" cy="36576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70" name="Text 68"/>
          <p:cNvSpPr/>
          <p:nvPr/>
        </p:nvSpPr>
        <p:spPr>
          <a:xfrm>
            <a:off x="4800600" y="285292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4754880" y="3154680"/>
            <a:ext cx="1737360" cy="2011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72" name="Text 70"/>
          <p:cNvSpPr/>
          <p:nvPr/>
        </p:nvSpPr>
        <p:spPr>
          <a:xfrm>
            <a:off x="4754880" y="31546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Cloudinary uploads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4754880" y="3401568"/>
            <a:ext cx="1737360" cy="2011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74" name="Text 72"/>
          <p:cNvSpPr/>
          <p:nvPr/>
        </p:nvSpPr>
        <p:spPr>
          <a:xfrm>
            <a:off x="4754880" y="340156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optimization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6766560" y="2743200"/>
            <a:ext cx="1920240" cy="1508760"/>
          </a:xfrm>
          <a:prstGeom prst="rect">
            <a:avLst/>
          </a:prstGeom>
          <a:solidFill>
            <a:srgbClr val="1B2838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766560" y="2743200"/>
            <a:ext cx="1920240" cy="36576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77" name="Text 75"/>
          <p:cNvSpPr/>
          <p:nvPr/>
        </p:nvSpPr>
        <p:spPr>
          <a:xfrm>
            <a:off x="6903720" y="285292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6858000" y="3154680"/>
            <a:ext cx="1737360" cy="2011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79" name="Text 77"/>
          <p:cNvSpPr/>
          <p:nvPr/>
        </p:nvSpPr>
        <p:spPr>
          <a:xfrm>
            <a:off x="6858000" y="31546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bcryptjs hashing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6858000" y="3401568"/>
            <a:ext cx="1737360" cy="2011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81" name="Text 79"/>
          <p:cNvSpPr/>
          <p:nvPr/>
        </p:nvSpPr>
        <p:spPr>
          <a:xfrm>
            <a:off x="6858000" y="340156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(6-digit, 24h TTL)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6858000" y="3648456"/>
            <a:ext cx="1737360" cy="2011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83" name="Text 81"/>
          <p:cNvSpPr/>
          <p:nvPr/>
        </p:nvSpPr>
        <p:spPr>
          <a:xfrm>
            <a:off x="6858000" y="364845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middleware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6858000" y="3895344"/>
            <a:ext cx="1737360" cy="2011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85" name="Text 83"/>
          <p:cNvSpPr/>
          <p:nvPr/>
        </p:nvSpPr>
        <p:spPr>
          <a:xfrm>
            <a:off x="6858000" y="389534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logging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on Render (Singapore)  •  pnpm  •  Custom Node.js server for Socket.IO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411480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Implementation Cost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PHASE (Current — Free)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931920" cy="2743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801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645920" y="1280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383280" y="12801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Cost/Mo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581912"/>
            <a:ext cx="393192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5819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645920" y="15819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(Free)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383280" y="158191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7200" y="1874520"/>
            <a:ext cx="3931920" cy="27432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18745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645920" y="1874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(M0)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83280" y="1874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2167128"/>
            <a:ext cx="393192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1671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645920" y="21671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OpenStreetMap + Nominatim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383280" y="21671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57200" y="2459736"/>
            <a:ext cx="3931920" cy="27432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245973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645920" y="245973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NextAuth (self-hosted)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383280" y="245973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57200" y="2752344"/>
            <a:ext cx="393192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275234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645920" y="275234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(Free tier)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383280" y="275234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57200" y="3044952"/>
            <a:ext cx="3931920" cy="27432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3044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645920" y="30449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Cloudinary (Free)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383280" y="3044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57200" y="3383280"/>
            <a:ext cx="3931920" cy="32004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" y="3383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Total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926080" y="33832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 / month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846320" y="960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SCALE PHASE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46320" y="1280160"/>
            <a:ext cx="3931920" cy="274320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38" name="Text 36"/>
          <p:cNvSpPr/>
          <p:nvPr/>
        </p:nvSpPr>
        <p:spPr>
          <a:xfrm>
            <a:off x="4937760" y="12801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035040" y="1280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772400" y="12801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Cost/Mo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846320" y="1581912"/>
            <a:ext cx="393192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4937760" y="15819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035040" y="15819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Pro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7772400" y="158191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~₹1,700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846320" y="1874520"/>
            <a:ext cx="3931920" cy="27432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46" name="Text 44"/>
          <p:cNvSpPr/>
          <p:nvPr/>
        </p:nvSpPr>
        <p:spPr>
          <a:xfrm>
            <a:off x="4937760" y="18745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035040" y="1874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M10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7772400" y="1874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~₹2,100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846320" y="2167128"/>
            <a:ext cx="393192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Text 48"/>
          <p:cNvSpPr/>
          <p:nvPr/>
        </p:nvSpPr>
        <p:spPr>
          <a:xfrm>
            <a:off x="4937760" y="21671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OTP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035040" y="21671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Twilio / MSG91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7772400" y="21671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~₹500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846320" y="2459736"/>
            <a:ext cx="3931920" cy="27432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54" name="Text 52"/>
          <p:cNvSpPr/>
          <p:nvPr/>
        </p:nvSpPr>
        <p:spPr>
          <a:xfrm>
            <a:off x="4937760" y="245973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CDN/Storage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035040" y="245973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R2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7772400" y="245973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~₹400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846320" y="2752344"/>
            <a:ext cx="393192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8" name="Text 56"/>
          <p:cNvSpPr/>
          <p:nvPr/>
        </p:nvSpPr>
        <p:spPr>
          <a:xfrm>
            <a:off x="4937760" y="275234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6035040" y="275234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.in domain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7772400" y="275234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~₹100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4846320" y="3044952"/>
            <a:ext cx="3931920" cy="27432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62" name="Text 60"/>
          <p:cNvSpPr/>
          <p:nvPr/>
        </p:nvSpPr>
        <p:spPr>
          <a:xfrm>
            <a:off x="4937760" y="3044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6035040" y="30449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Pro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7772400" y="3044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~₹500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4846320" y="3383280"/>
            <a:ext cx="3931920" cy="320040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66" name="Text 64"/>
          <p:cNvSpPr/>
          <p:nvPr/>
        </p:nvSpPr>
        <p:spPr>
          <a:xfrm>
            <a:off x="4937760" y="3383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Total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7132320" y="33832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~₹5,300 / month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457200" y="3977640"/>
            <a:ext cx="8229600" cy="73152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69" name="Shape 67"/>
          <p:cNvSpPr/>
          <p:nvPr/>
        </p:nvSpPr>
        <p:spPr>
          <a:xfrm>
            <a:off x="457200" y="3977640"/>
            <a:ext cx="54864" cy="7315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70" name="Text 68"/>
          <p:cNvSpPr/>
          <p:nvPr/>
        </p:nvSpPr>
        <p:spPr>
          <a:xfrm>
            <a:off x="731520" y="39776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Self-sustaining model: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 wallet top-ups and a small platform fee (₹10/delivery) on high-volume corridors can cover operational costs without external funding.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411480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Impact &amp; Roadmap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6060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5156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40%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waste reduction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partner areas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337560" y="1005840"/>
            <a:ext cx="26060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37560" y="105156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6F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1000+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337560" y="16459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Meals redirected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 per city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005840"/>
            <a:ext cx="26060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105156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₹0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217920" y="16459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to donors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one click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468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862072"/>
            <a:ext cx="274320" cy="274320"/>
          </a:xfrm>
          <a:prstGeom prst="ellipse">
            <a:avLst/>
          </a:prstGeom>
          <a:solidFill>
            <a:srgbClr val="1B5E20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8620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68680" y="28346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(React Native)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8680" y="30175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Android/iOS with push notifications and live GPS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273552"/>
            <a:ext cx="274320" cy="274320"/>
          </a:xfrm>
          <a:prstGeom prst="ellipse">
            <a:avLst/>
          </a:prstGeom>
          <a:solidFill>
            <a:srgbClr val="1B5E20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2735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68680" y="32461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OTP (Twilio / MSG91)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8680" y="34290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even without internet on the donor/NGO side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685032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6850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68680" y="36576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CSR Integration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68680" y="38404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Tax-benefit receipts and bulk listing API for hotel ERPs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4096512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0965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68680" y="40690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Multi-city Expansion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68680" y="4251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City-level admin dashboards with impact metrics and leaderboards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4507992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45079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68680" y="44805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Integration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68680" y="46634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with FSSAI food banks and state hunger-map data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029200" y="2468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CAPABILITIES</a:t>
            </a:r>
            <a:endParaRPr lang="en-US" sz="1000" dirty="0"/>
          </a:p>
        </p:txBody>
      </p:sp>
      <p:pic>
        <p:nvPicPr>
          <p:cNvPr id="3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852928"/>
            <a:ext cx="201168" cy="201168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5349240" y="283464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Model (Demands)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5349240" y="301752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NGOs post what they need → donors accept → volunteer delivers</a:t>
            </a:r>
            <a:endParaRPr lang="en-US" sz="850" dirty="0"/>
          </a:p>
        </p:txBody>
      </p:sp>
      <p:pic>
        <p:nvPicPr>
          <p:cNvPr id="3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3264408"/>
            <a:ext cx="201168" cy="201168"/>
          </a:xfrm>
          <a:prstGeom prst="rect">
            <a:avLst/>
          </a:prstGeom>
        </p:spPr>
      </p:pic>
      <p:sp>
        <p:nvSpPr>
          <p:cNvPr id="39" name="Text 35"/>
          <p:cNvSpPr/>
          <p:nvPr/>
        </p:nvSpPr>
        <p:spPr>
          <a:xfrm>
            <a:off x="5349240" y="32461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Claiming</a:t>
            </a:r>
            <a:endParaRPr lang="en-US" sz="1000" dirty="0"/>
          </a:p>
        </p:txBody>
      </p:sp>
      <p:sp>
        <p:nvSpPr>
          <p:cNvPr id="40" name="Text 36"/>
          <p:cNvSpPr/>
          <p:nvPr/>
        </p:nvSpPr>
        <p:spPr>
          <a:xfrm>
            <a:off x="5349240" y="342900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NGOs claim different portions of the same listing</a:t>
            </a:r>
            <a:endParaRPr lang="en-US" sz="850" dirty="0"/>
          </a:p>
        </p:txBody>
      </p:sp>
      <p:pic>
        <p:nvPicPr>
          <p:cNvPr id="4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3675888"/>
            <a:ext cx="201168" cy="201168"/>
          </a:xfrm>
          <a:prstGeom prst="rect">
            <a:avLst/>
          </a:prstGeom>
        </p:spPr>
      </p:pic>
      <p:sp>
        <p:nvSpPr>
          <p:cNvPr id="42" name="Text 37"/>
          <p:cNvSpPr/>
          <p:nvPr/>
        </p:nvSpPr>
        <p:spPr>
          <a:xfrm>
            <a:off x="5349240" y="365760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</a:t>
            </a:r>
            <a:endParaRPr lang="en-US" sz="1000" dirty="0"/>
          </a:p>
        </p:txBody>
      </p:sp>
      <p:sp>
        <p:nvSpPr>
          <p:cNvPr id="43" name="Text 38"/>
          <p:cNvSpPr/>
          <p:nvPr/>
        </p:nvSpPr>
        <p:spPr>
          <a:xfrm>
            <a:off x="5349240" y="384048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management, listing control, audit trail, analytics</a:t>
            </a:r>
            <a:endParaRPr lang="en-US" sz="850" dirty="0"/>
          </a:p>
        </p:txBody>
      </p:sp>
      <p:pic>
        <p:nvPicPr>
          <p:cNvPr id="4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4087368"/>
            <a:ext cx="201168" cy="201168"/>
          </a:xfrm>
          <a:prstGeom prst="rect">
            <a:avLst/>
          </a:prstGeom>
        </p:spPr>
      </p:pic>
      <p:sp>
        <p:nvSpPr>
          <p:cNvPr id="45" name="Text 39"/>
          <p:cNvSpPr/>
          <p:nvPr/>
        </p:nvSpPr>
        <p:spPr>
          <a:xfrm>
            <a:off x="5349240" y="406908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Expiry</a:t>
            </a:r>
            <a:endParaRPr lang="en-US" sz="1000" dirty="0"/>
          </a:p>
        </p:txBody>
      </p:sp>
      <p:sp>
        <p:nvSpPr>
          <p:cNvPr id="46" name="Text 40"/>
          <p:cNvSpPr/>
          <p:nvPr/>
        </p:nvSpPr>
        <p:spPr>
          <a:xfrm>
            <a:off x="5349240" y="425196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job marks expired listings and notifies all parties</a:t>
            </a:r>
            <a:endParaRPr lang="en-US" sz="850" dirty="0"/>
          </a:p>
        </p:txBody>
      </p:sp>
      <p:pic>
        <p:nvPicPr>
          <p:cNvPr id="4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4498848"/>
            <a:ext cx="201168" cy="201168"/>
          </a:xfrm>
          <a:prstGeom prst="rect">
            <a:avLst/>
          </a:prstGeom>
        </p:spPr>
      </p:pic>
      <p:sp>
        <p:nvSpPr>
          <p:cNvPr id="48" name="Text 41"/>
          <p:cNvSpPr/>
          <p:nvPr/>
        </p:nvSpPr>
        <p:spPr>
          <a:xfrm>
            <a:off x="5349240" y="448056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System</a:t>
            </a:r>
            <a:endParaRPr lang="en-US" sz="1000" dirty="0"/>
          </a:p>
        </p:txBody>
      </p:sp>
      <p:sp>
        <p:nvSpPr>
          <p:cNvPr id="49" name="Text 42"/>
          <p:cNvSpPr/>
          <p:nvPr/>
        </p:nvSpPr>
        <p:spPr>
          <a:xfrm>
            <a:off x="5349240" y="466344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Volunteers rated 0-5 stars, prioritized in auto-assignment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48640"/>
            <a:ext cx="2011680" cy="32004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ERROR 404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ZeroWaste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Surplus into Service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2834640"/>
            <a:ext cx="3657600" cy="0"/>
          </a:xfrm>
          <a:prstGeom prst="line">
            <a:avLst/>
          </a:prstGeom>
          <a:noFill/>
          <a:ln w="12700">
            <a:solidFill>
              <a:srgbClr val="2D37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0175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no plate of food should go to waste while someone goes to bed hungry.</a:t>
            </a:r>
            <a:endParaRPr lang="en-US" sz="13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794760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97280" y="37764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97280" y="39776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source • MIT License • TypeScript</a:t>
            </a:r>
            <a:endParaRPr lang="en-US" sz="9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34340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97280" y="432511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MVP Prototype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1097280" y="45262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pre-seeded accounts • Full end-to-end flow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5029200" y="45720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NYXORA — National Hackathon 2026  •  MREM 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1352</Words>
  <Application>Microsoft Office PowerPoint</Application>
  <PresentationFormat>On-screen Show (16:9)</PresentationFormat>
  <Paragraphs>321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ZeroWaste — AI-Powered Surplus Food Redistribution</dc:title>
  <dc:subject>PptxGenJS Presentation</dc:subject>
  <dc:creator>Team Error 404</dc:creator>
  <cp:lastModifiedBy>Avinash kumar</cp:lastModifiedBy>
  <cp:revision>2</cp:revision>
  <dcterms:created xsi:type="dcterms:W3CDTF">2026-03-24T16:50:52Z</dcterms:created>
  <dcterms:modified xsi:type="dcterms:W3CDTF">2026-03-24T16:55:25Z</dcterms:modified>
</cp:coreProperties>
</file>